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58" r:id="rId5"/>
    <p:sldId id="259" r:id="rId6"/>
    <p:sldId id="272" r:id="rId7"/>
    <p:sldId id="260" r:id="rId8"/>
    <p:sldId id="261" r:id="rId9"/>
    <p:sldId id="270" r:id="rId10"/>
    <p:sldId id="262" r:id="rId11"/>
    <p:sldId id="267" r:id="rId12"/>
    <p:sldId id="263" r:id="rId13"/>
    <p:sldId id="264" r:id="rId14"/>
    <p:sldId id="265" r:id="rId15"/>
    <p:sldId id="269" r:id="rId16"/>
    <p:sldId id="268" r:id="rId17"/>
    <p:sldId id="266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BE1F3-9B20-4B05-8323-E7B93B643D0D}" v="2" dt="2026-06-20T04:57:46.1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an Raj T" userId="2c87a0f53c49cd31" providerId="LiveId" clId="{0D2F3A96-5F78-460E-9E78-508C5284A36F}"/>
    <pc:docChg chg="delSld modSld sldOrd">
      <pc:chgData name="Madhan Raj T" userId="2c87a0f53c49cd31" providerId="LiveId" clId="{0D2F3A96-5F78-460E-9E78-508C5284A36F}" dt="2026-06-20T05:57:00.040" v="32" actId="2696"/>
      <pc:docMkLst>
        <pc:docMk/>
      </pc:docMkLst>
      <pc:sldChg chg="addSp modSp mod modTransition">
        <pc:chgData name="Madhan Raj T" userId="2c87a0f53c49cd31" providerId="LiveId" clId="{0D2F3A96-5F78-460E-9E78-508C5284A36F}" dt="2026-06-20T04:57:46.113" v="22"/>
        <pc:sldMkLst>
          <pc:docMk/>
          <pc:sldMk cId="2828555578" sldId="256"/>
        </pc:sldMkLst>
        <pc:spChg chg="mod">
          <ac:chgData name="Madhan Raj T" userId="2c87a0f53c49cd31" providerId="LiveId" clId="{0D2F3A96-5F78-460E-9E78-508C5284A36F}" dt="2026-06-20T04:55:53.186" v="19" actId="1076"/>
          <ac:spMkLst>
            <pc:docMk/>
            <pc:sldMk cId="2828555578" sldId="256"/>
            <ac:spMk id="2" creationId="{E839E9B6-5015-3F99-D415-D0CCB813E917}"/>
          </ac:spMkLst>
        </pc:spChg>
        <pc:spChg chg="mod">
          <ac:chgData name="Madhan Raj T" userId="2c87a0f53c49cd31" providerId="LiveId" clId="{0D2F3A96-5F78-460E-9E78-508C5284A36F}" dt="2026-06-20T04:54:28.498" v="18" actId="14100"/>
          <ac:spMkLst>
            <pc:docMk/>
            <pc:sldMk cId="2828555578" sldId="256"/>
            <ac:spMk id="3" creationId="{7416F14D-D6ED-03D0-69AD-EB4FE41CF362}"/>
          </ac:spMkLst>
        </pc:spChg>
        <pc:picChg chg="add mod">
          <ac:chgData name="Madhan Raj T" userId="2c87a0f53c49cd31" providerId="LiveId" clId="{0D2F3A96-5F78-460E-9E78-508C5284A36F}" dt="2026-06-20T04:55:55.931" v="20" actId="14100"/>
          <ac:picMkLst>
            <pc:docMk/>
            <pc:sldMk cId="2828555578" sldId="256"/>
            <ac:picMk id="4" creationId="{8806642C-7836-7835-AC7E-DA95EE341982}"/>
          </ac:picMkLst>
        </pc:picChg>
      </pc:sldChg>
      <pc:sldChg chg="ord">
        <pc:chgData name="Madhan Raj T" userId="2c87a0f53c49cd31" providerId="LiveId" clId="{0D2F3A96-5F78-460E-9E78-508C5284A36F}" dt="2026-06-20T05:26:43.656" v="29"/>
        <pc:sldMkLst>
          <pc:docMk/>
          <pc:sldMk cId="2752964305" sldId="266"/>
        </pc:sldMkLst>
      </pc:sldChg>
      <pc:sldChg chg="ord">
        <pc:chgData name="Madhan Raj T" userId="2c87a0f53c49cd31" providerId="LiveId" clId="{0D2F3A96-5F78-460E-9E78-508C5284A36F}" dt="2026-06-20T05:26:47.345" v="31"/>
        <pc:sldMkLst>
          <pc:docMk/>
          <pc:sldMk cId="1254032703" sldId="269"/>
        </pc:sldMkLst>
      </pc:sldChg>
      <pc:sldChg chg="modSp mod">
        <pc:chgData name="Madhan Raj T" userId="2c87a0f53c49cd31" providerId="LiveId" clId="{0D2F3A96-5F78-460E-9E78-508C5284A36F}" dt="2026-06-20T05:08:56.248" v="27" actId="403"/>
        <pc:sldMkLst>
          <pc:docMk/>
          <pc:sldMk cId="2669270044" sldId="271"/>
        </pc:sldMkLst>
        <pc:graphicFrameChg chg="mod modGraphic">
          <ac:chgData name="Madhan Raj T" userId="2c87a0f53c49cd31" providerId="LiveId" clId="{0D2F3A96-5F78-460E-9E78-508C5284A36F}" dt="2026-06-20T05:08:56.248" v="27" actId="403"/>
          <ac:graphicFrameMkLst>
            <pc:docMk/>
            <pc:sldMk cId="2669270044" sldId="271"/>
            <ac:graphicFrameMk id="4" creationId="{F2B4B534-A27A-8C6D-7149-B3306A00A2B3}"/>
          </ac:graphicFrameMkLst>
        </pc:graphicFrameChg>
      </pc:sldChg>
      <pc:sldChg chg="del">
        <pc:chgData name="Madhan Raj T" userId="2c87a0f53c49cd31" providerId="LiveId" clId="{0D2F3A96-5F78-460E-9E78-508C5284A36F}" dt="2026-06-20T05:57:00.040" v="32" actId="2696"/>
        <pc:sldMkLst>
          <pc:docMk/>
          <pc:sldMk cId="3161062221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83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65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25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36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0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42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07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34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763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582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717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885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380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796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361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133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01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C4B462D-8ED5-4FC1-BBB6-AD06CC008CBA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F44C9-7939-4570-BBDA-41E08403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7310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E9B6-5015-3F99-D415-D0CCB813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443" y="1447799"/>
            <a:ext cx="8825658" cy="3329581"/>
          </a:xfrm>
        </p:spPr>
        <p:txBody>
          <a:bodyPr/>
          <a:lstStyle/>
          <a:p>
            <a:r>
              <a:rPr lang="en-IN" b="1" i="1" dirty="0"/>
              <a:t>US Minneapolis Metro Traffic Pattern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16F14D-D6ED-03D0-69AD-EB4FE41CF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9952" y="5689219"/>
            <a:ext cx="3179064" cy="382397"/>
          </a:xfrm>
        </p:spPr>
        <p:txBody>
          <a:bodyPr>
            <a:normAutofit lnSpcReduction="10000"/>
          </a:bodyPr>
          <a:lstStyle/>
          <a:p>
            <a:pPr algn="r"/>
            <a:r>
              <a:rPr lang="en-US" b="1" dirty="0"/>
              <a:t>Presented by Lavanya </a:t>
            </a:r>
          </a:p>
          <a:p>
            <a:pPr algn="r"/>
            <a:endParaRPr lang="en-IN" b="1" dirty="0"/>
          </a:p>
        </p:txBody>
      </p:sp>
      <p:pic>
        <p:nvPicPr>
          <p:cNvPr id="4" name="Picture 3" descr="Aerial View of Minneapolis, Minnesota during Summer">
            <a:extLst>
              <a:ext uri="{FF2B5EF4-FFF2-40B4-BE49-F238E27FC236}">
                <a16:creationId xmlns:a16="http://schemas.microsoft.com/office/drawing/2014/main" id="{8806642C-7836-7835-AC7E-DA95EE341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1545335"/>
            <a:ext cx="4425697" cy="32320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2855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FAB93-85AC-0998-EE8A-4CA59EBF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highlight>
                  <a:srgbClr val="800080"/>
                </a:highlight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3AA82-31D1-913C-106B-A80AC1ECF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31126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Objective</a:t>
            </a:r>
          </a:p>
          <a:p>
            <a:r>
              <a:rPr lang="en-IN" dirty="0" err="1"/>
              <a:t>Analyze</a:t>
            </a:r>
            <a:r>
              <a:rPr lang="en-IN" dirty="0"/>
              <a:t> traffic volume patterns. </a:t>
            </a:r>
          </a:p>
          <a:p>
            <a:r>
              <a:rPr lang="en-IN" dirty="0"/>
              <a:t>Understand the impact of weather conditions on traffic. </a:t>
            </a:r>
          </a:p>
          <a:p>
            <a:r>
              <a:rPr lang="en-IN" dirty="0"/>
              <a:t>Identify congestion trends and traffic density levels. </a:t>
            </a:r>
          </a:p>
          <a:p>
            <a:r>
              <a:rPr lang="en-IN" dirty="0"/>
              <a:t>Create an interactive Power BI dashboard.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Dataset</a:t>
            </a:r>
          </a:p>
          <a:p>
            <a:r>
              <a:rPr lang="en-IN" dirty="0"/>
              <a:t>Metro Interstate Traffic Volume Dataset </a:t>
            </a:r>
          </a:p>
          <a:p>
            <a:r>
              <a:rPr lang="en-IN" dirty="0"/>
              <a:t>48,204 records </a:t>
            </a:r>
          </a:p>
          <a:p>
            <a:r>
              <a:rPr lang="en-IN" dirty="0"/>
              <a:t>Traffic and weather-related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513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B4B534-A27A-8C6D-7149-B3306A00A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330795"/>
              </p:ext>
            </p:extLst>
          </p:nvPr>
        </p:nvGraphicFramePr>
        <p:xfrm>
          <a:off x="1682496" y="1161888"/>
          <a:ext cx="7982712" cy="47499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82876">
                  <a:extLst>
                    <a:ext uri="{9D8B030D-6E8A-4147-A177-3AD203B41FA5}">
                      <a16:colId xmlns:a16="http://schemas.microsoft.com/office/drawing/2014/main" val="2040886805"/>
                    </a:ext>
                  </a:extLst>
                </a:gridCol>
                <a:gridCol w="4699836">
                  <a:extLst>
                    <a:ext uri="{9D8B030D-6E8A-4147-A177-3AD203B41FA5}">
                      <a16:colId xmlns:a16="http://schemas.microsoft.com/office/drawing/2014/main" val="4140609840"/>
                    </a:ext>
                  </a:extLst>
                </a:gridCol>
              </a:tblGrid>
              <a:tr h="4318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7030A0"/>
                          </a:solidFill>
                          <a:effectLst/>
                          <a:highlight>
                            <a:srgbClr val="C0C0C0"/>
                          </a:highlight>
                        </a:rPr>
                        <a:t>Features</a:t>
                      </a:r>
                      <a:endParaRPr lang="en-IN" sz="2000" kern="100" dirty="0">
                        <a:solidFill>
                          <a:srgbClr val="7030A0"/>
                        </a:solidFill>
                        <a:effectLst/>
                        <a:highlight>
                          <a:srgbClr val="C0C0C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7030A0"/>
                          </a:solidFill>
                          <a:effectLst/>
                          <a:highlight>
                            <a:srgbClr val="C0C0C0"/>
                          </a:highlight>
                        </a:rPr>
                        <a:t>Description</a:t>
                      </a:r>
                      <a:endParaRPr lang="en-IN" sz="2000" kern="100" dirty="0">
                        <a:solidFill>
                          <a:srgbClr val="7030A0"/>
                        </a:solidFill>
                        <a:effectLst/>
                        <a:highlight>
                          <a:srgbClr val="C0C0C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983352992"/>
                  </a:ext>
                </a:extLst>
              </a:tr>
              <a:tr h="43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holiday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</a:rPr>
                        <a:t>Public holiday indicator</a:t>
                      </a:r>
                      <a:endParaRPr lang="en-IN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901514972"/>
                  </a:ext>
                </a:extLst>
              </a:tr>
              <a:tr h="43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temp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</a:rPr>
                        <a:t>Temperature (Kelvin)</a:t>
                      </a:r>
                      <a:endParaRPr lang="en-IN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700165969"/>
                  </a:ext>
                </a:extLst>
              </a:tr>
              <a:tr h="6219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 err="1">
                          <a:effectLst/>
                        </a:rPr>
                        <a:t>rain_1h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</a:rPr>
                        <a:t>Amount of rainfall recorded in one hour (mm/hr)</a:t>
                      </a:r>
                      <a:endParaRPr lang="en-IN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292677147"/>
                  </a:ext>
                </a:extLst>
              </a:tr>
              <a:tr h="6219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 err="1">
                          <a:effectLst/>
                        </a:rPr>
                        <a:t>snow_1h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</a:rPr>
                        <a:t>Amount of snowfall recorded in one hour (mm/hr)</a:t>
                      </a:r>
                      <a:endParaRPr lang="en-IN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480931763"/>
                  </a:ext>
                </a:extLst>
              </a:tr>
              <a:tr h="43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 err="1">
                          <a:effectLst/>
                        </a:rPr>
                        <a:t>clouds_all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</a:rPr>
                        <a:t>Cloud cover percentage</a:t>
                      </a:r>
                      <a:endParaRPr lang="en-IN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810581489"/>
                  </a:ext>
                </a:extLst>
              </a:tr>
              <a:tr h="43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 err="1">
                          <a:effectLst/>
                        </a:rPr>
                        <a:t>weather_main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</a:rPr>
                        <a:t>Main weather condition</a:t>
                      </a:r>
                      <a:endParaRPr lang="en-IN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522971400"/>
                  </a:ext>
                </a:extLst>
              </a:tr>
              <a:tr h="43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 err="1">
                          <a:effectLst/>
                        </a:rPr>
                        <a:t>weather_description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</a:rPr>
                        <a:t>Detailed weather condition</a:t>
                      </a:r>
                      <a:endParaRPr lang="en-IN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898728281"/>
                  </a:ext>
                </a:extLst>
              </a:tr>
              <a:tr h="43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 err="1">
                          <a:effectLst/>
                        </a:rPr>
                        <a:t>date_time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</a:rPr>
                        <a:t>Date and time of observation</a:t>
                      </a:r>
                      <a:endParaRPr lang="en-IN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827663586"/>
                  </a:ext>
                </a:extLst>
              </a:tr>
              <a:tr h="43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 err="1">
                          <a:effectLst/>
                        </a:rPr>
                        <a:t>traffic_volume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</a:rPr>
                        <a:t>Number of vehicles recorded</a:t>
                      </a:r>
                      <a:endParaRPr lang="en-IN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606419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27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5B5B-9B2C-8DA6-05BC-FD7155F25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31" y="379566"/>
            <a:ext cx="9404723" cy="1400530"/>
          </a:xfrm>
        </p:spPr>
        <p:txBody>
          <a:bodyPr/>
          <a:lstStyle/>
          <a:p>
            <a:r>
              <a:rPr lang="en-IN" b="1" i="1" dirty="0">
                <a:highlight>
                  <a:srgbClr val="800080"/>
                </a:highlight>
              </a:rPr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66BB8-C8B7-2193-386D-67A273426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304" y="1421982"/>
            <a:ext cx="8946541" cy="41954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Tools</a:t>
            </a:r>
          </a:p>
          <a:p>
            <a:r>
              <a:rPr lang="en-IN" dirty="0"/>
              <a:t>Google </a:t>
            </a:r>
            <a:r>
              <a:rPr lang="en-IN" dirty="0" err="1"/>
              <a:t>Colab</a:t>
            </a:r>
            <a:r>
              <a:rPr lang="en-IN" dirty="0"/>
              <a:t> </a:t>
            </a:r>
          </a:p>
          <a:p>
            <a:r>
              <a:rPr lang="en-IN" dirty="0"/>
              <a:t>Power BI </a:t>
            </a:r>
          </a:p>
          <a:p>
            <a:r>
              <a:rPr lang="en-IN" dirty="0"/>
              <a:t>GitHub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Libraries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r>
              <a:rPr lang="en-IN" dirty="0"/>
              <a:t>Matplotlib </a:t>
            </a:r>
          </a:p>
          <a:p>
            <a:r>
              <a:rPr lang="en-IN" dirty="0"/>
              <a:t>Seaborn </a:t>
            </a:r>
          </a:p>
          <a:p>
            <a:r>
              <a:rPr lang="en-IN" dirty="0"/>
              <a:t>Plotly Express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6513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592C8-0EA5-05C8-3D36-5506C4E48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64018"/>
          </a:xfrm>
        </p:spPr>
        <p:txBody>
          <a:bodyPr/>
          <a:lstStyle/>
          <a:p>
            <a:r>
              <a:rPr lang="en-IN" b="1" i="1" dirty="0">
                <a:highlight>
                  <a:srgbClr val="800080"/>
                </a:highlight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3F135-D1C8-D56D-C4D8-3EFEDC88F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31126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Steps Performed</a:t>
            </a:r>
          </a:p>
          <a:p>
            <a:r>
              <a:rPr lang="en-IN" dirty="0"/>
              <a:t>Loaded dataset </a:t>
            </a:r>
          </a:p>
          <a:p>
            <a:r>
              <a:rPr lang="en-IN" dirty="0"/>
              <a:t>Checked missing values </a:t>
            </a:r>
          </a:p>
          <a:p>
            <a:r>
              <a:rPr lang="en-IN" dirty="0"/>
              <a:t>Handled null values </a:t>
            </a:r>
          </a:p>
          <a:p>
            <a:r>
              <a:rPr lang="en-IN" dirty="0"/>
              <a:t>Checked duplicates </a:t>
            </a:r>
          </a:p>
          <a:p>
            <a:r>
              <a:rPr lang="en-IN" dirty="0"/>
              <a:t>Renamed columns </a:t>
            </a:r>
          </a:p>
          <a:p>
            <a:r>
              <a:rPr lang="en-IN" dirty="0"/>
              <a:t>Converted </a:t>
            </a:r>
            <a:r>
              <a:rPr lang="en-IN" dirty="0" err="1"/>
              <a:t>Date_Time</a:t>
            </a:r>
            <a:r>
              <a:rPr lang="en-IN" dirty="0"/>
              <a:t> datatype </a:t>
            </a:r>
          </a:p>
          <a:p>
            <a:r>
              <a:rPr lang="en-IN" dirty="0"/>
              <a:t>Created Traffic Density feature </a:t>
            </a:r>
          </a:p>
          <a:p>
            <a:r>
              <a:rPr lang="en-IN" dirty="0"/>
              <a:t>Exported cleaned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563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387016-A808-1052-3931-77D6BD4AB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642648"/>
              </p:ext>
            </p:extLst>
          </p:nvPr>
        </p:nvGraphicFramePr>
        <p:xfrm>
          <a:off x="1179576" y="776382"/>
          <a:ext cx="8880031" cy="543239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406456">
                  <a:extLst>
                    <a:ext uri="{9D8B030D-6E8A-4147-A177-3AD203B41FA5}">
                      <a16:colId xmlns:a16="http://schemas.microsoft.com/office/drawing/2014/main" val="2416369437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2695814402"/>
                    </a:ext>
                  </a:extLst>
                </a:gridCol>
              </a:tblGrid>
              <a:tr h="7388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rgbClr val="7030A0"/>
                          </a:solidFill>
                          <a:highlight>
                            <a:srgbClr val="C0C0C0"/>
                          </a:highlight>
                        </a:rPr>
                        <a:t>Original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rgbClr val="7030A0"/>
                          </a:solidFill>
                          <a:highlight>
                            <a:srgbClr val="C0C0C0"/>
                          </a:highlight>
                        </a:rPr>
                        <a:t>Transformed Column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167867"/>
                  </a:ext>
                </a:extLst>
              </a:tr>
              <a:tr h="521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holiday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 err="1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Holiday_Name</a:t>
                      </a:r>
                      <a:endParaRPr lang="en-IN" b="1" i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326867"/>
                  </a:ext>
                </a:extLst>
              </a:tr>
              <a:tr h="521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Temperature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380468"/>
                  </a:ext>
                </a:extLst>
              </a:tr>
              <a:tr h="521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rain_1h</a:t>
                      </a:r>
                      <a:endParaRPr lang="en-IN" sz="2000" b="1" i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 err="1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Rainfall_Per_Hr</a:t>
                      </a:r>
                      <a:endParaRPr lang="en-IN" b="1" i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344686"/>
                  </a:ext>
                </a:extLst>
              </a:tr>
              <a:tr h="521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snow_1h</a:t>
                      </a:r>
                      <a:endParaRPr lang="en-IN" sz="2000" b="1" i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 err="1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Snowfall_Per_Hr</a:t>
                      </a:r>
                      <a:endParaRPr lang="en-IN" b="1" i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707681"/>
                  </a:ext>
                </a:extLst>
              </a:tr>
              <a:tr h="521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clouds_all</a:t>
                      </a:r>
                      <a:endParaRPr lang="en-IN" sz="2000" b="1" i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 err="1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Cloud_Cover_Percentage</a:t>
                      </a:r>
                      <a:endParaRPr lang="en-IN" b="1" i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942688"/>
                  </a:ext>
                </a:extLst>
              </a:tr>
              <a:tr h="521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weather_main</a:t>
                      </a:r>
                      <a:endParaRPr lang="en-IN" sz="2000" b="1" i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 err="1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Weather_Condition</a:t>
                      </a:r>
                      <a:endParaRPr lang="en-IN" b="1" i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645750"/>
                  </a:ext>
                </a:extLst>
              </a:tr>
              <a:tr h="521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weather_description</a:t>
                      </a:r>
                      <a:endParaRPr lang="en-IN" sz="2000" b="1" i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 err="1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Weather_Description</a:t>
                      </a:r>
                      <a:endParaRPr lang="en-IN" b="1" i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411920"/>
                  </a:ext>
                </a:extLst>
              </a:tr>
              <a:tr h="521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date_time</a:t>
                      </a:r>
                      <a:endParaRPr lang="en-IN" sz="2000" b="1" i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 err="1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Date_Time</a:t>
                      </a:r>
                      <a:endParaRPr lang="en-IN" b="1" i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057755"/>
                  </a:ext>
                </a:extLst>
              </a:tr>
              <a:tr h="521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traffic_volume</a:t>
                      </a:r>
                      <a:endParaRPr lang="en-IN" sz="2000" b="1" i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 err="1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Traffic_Volume</a:t>
                      </a:r>
                      <a:endParaRPr lang="en-IN" b="1" i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7815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776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15A0-F70E-4D0B-DC45-C8CFA4542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1722"/>
          </a:xfrm>
        </p:spPr>
        <p:txBody>
          <a:bodyPr/>
          <a:lstStyle/>
          <a:p>
            <a:r>
              <a:rPr lang="en-IN" b="1" i="1" dirty="0">
                <a:highlight>
                  <a:srgbClr val="800080"/>
                </a:highlight>
              </a:rPr>
              <a:t>Feature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2C0421-DBFF-783A-D1DC-16342B1D05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750064"/>
              </p:ext>
            </p:extLst>
          </p:nvPr>
        </p:nvGraphicFramePr>
        <p:xfrm>
          <a:off x="1789297" y="2631164"/>
          <a:ext cx="5022983" cy="3045114"/>
        </p:xfrm>
        <a:graphic>
          <a:graphicData uri="http://schemas.openxmlformats.org/drawingml/2006/table">
            <a:tbl>
              <a:tblPr/>
              <a:tblGrid>
                <a:gridCol w="2709926">
                  <a:extLst>
                    <a:ext uri="{9D8B030D-6E8A-4147-A177-3AD203B41FA5}">
                      <a16:colId xmlns:a16="http://schemas.microsoft.com/office/drawing/2014/main" val="3761139369"/>
                    </a:ext>
                  </a:extLst>
                </a:gridCol>
                <a:gridCol w="2313057">
                  <a:extLst>
                    <a:ext uri="{9D8B030D-6E8A-4147-A177-3AD203B41FA5}">
                      <a16:colId xmlns:a16="http://schemas.microsoft.com/office/drawing/2014/main" val="3999887551"/>
                    </a:ext>
                  </a:extLst>
                </a:gridCol>
              </a:tblGrid>
              <a:tr h="5075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highlight>
                            <a:srgbClr val="808000"/>
                          </a:highlight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Traffic 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highlight>
                            <a:srgbClr val="808000"/>
                          </a:highlight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536377"/>
                  </a:ext>
                </a:extLst>
              </a:tr>
              <a:tr h="5075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0–1000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Very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562825"/>
                  </a:ext>
                </a:extLst>
              </a:tr>
              <a:tr h="5075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1000–3000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108035"/>
                  </a:ext>
                </a:extLst>
              </a:tr>
              <a:tr h="5075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3000–5000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022995"/>
                  </a:ext>
                </a:extLst>
              </a:tr>
              <a:tr h="5075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5000–6000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016730"/>
                  </a:ext>
                </a:extLst>
              </a:tr>
              <a:tr h="5075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6000–7500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0902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078A5C4-2711-F50C-83DC-48AA9BECA35F}"/>
              </a:ext>
            </a:extLst>
          </p:cNvPr>
          <p:cNvSpPr txBox="1"/>
          <p:nvPr/>
        </p:nvSpPr>
        <p:spPr>
          <a:xfrm>
            <a:off x="810703" y="1456042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IN" sz="20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Traffic Density Categories</a:t>
            </a:r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744F5392-986F-8152-EE44-91DA6078B22E}"/>
              </a:ext>
            </a:extLst>
          </p:cNvPr>
          <p:cNvSpPr/>
          <p:nvPr/>
        </p:nvSpPr>
        <p:spPr>
          <a:xfrm>
            <a:off x="6739128" y="1388694"/>
            <a:ext cx="4901184" cy="1709928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Simplifies traffic analysis </a:t>
            </a:r>
          </a:p>
          <a:p>
            <a:r>
              <a:rPr lang="en-IN" dirty="0"/>
              <a:t>Helps identify congestion levels</a:t>
            </a:r>
          </a:p>
        </p:txBody>
      </p:sp>
    </p:spTree>
    <p:extLst>
      <p:ext uri="{BB962C8B-B14F-4D97-AF65-F5344CB8AC3E}">
        <p14:creationId xmlns:p14="http://schemas.microsoft.com/office/powerpoint/2010/main" val="2092701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E3046D-3274-B5A8-3F62-C9493673B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99669" y="3520440"/>
            <a:ext cx="2281365" cy="2267711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US" sz="2600" b="1" dirty="0"/>
              <a:t>Measures</a:t>
            </a:r>
          </a:p>
          <a:p>
            <a:pPr algn="ctr"/>
            <a:r>
              <a:rPr lang="en-US" sz="2600" b="1" dirty="0"/>
              <a:t>slicers</a:t>
            </a:r>
          </a:p>
          <a:p>
            <a:pPr algn="ctr"/>
            <a:r>
              <a:rPr lang="en-US" sz="2600" b="1" dirty="0"/>
              <a:t>Bar Chart</a:t>
            </a:r>
          </a:p>
          <a:p>
            <a:pPr algn="ctr"/>
            <a:r>
              <a:rPr lang="en-US" sz="2600" b="1" dirty="0"/>
              <a:t>Line chart</a:t>
            </a:r>
          </a:p>
          <a:p>
            <a:pPr algn="ctr"/>
            <a:r>
              <a:rPr lang="en-US" sz="2600" b="1" dirty="0"/>
              <a:t>Area chart</a:t>
            </a:r>
          </a:p>
          <a:p>
            <a:pPr algn="ctr"/>
            <a:r>
              <a:rPr lang="en-US" sz="2600" b="1" dirty="0"/>
              <a:t>Pie chart </a:t>
            </a:r>
          </a:p>
          <a:p>
            <a:pPr algn="ctr"/>
            <a:endParaRPr lang="en-IN" b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B1D367-50C2-6256-95E7-86A528412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524" y="1202795"/>
            <a:ext cx="8825657" cy="1915647"/>
          </a:xfrm>
        </p:spPr>
        <p:txBody>
          <a:bodyPr/>
          <a:lstStyle/>
          <a:p>
            <a:pPr algn="ctr"/>
            <a:r>
              <a:rPr lang="en-IN" sz="7200" b="1" i="1" dirty="0"/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6971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77F3F6-776D-9607-65DE-C60BD757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552" y="218627"/>
            <a:ext cx="5125165" cy="642074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7FFA66D-C2B5-6A57-7AC8-769CFD179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99" y="1586574"/>
            <a:ext cx="3679001" cy="2098458"/>
          </a:xfrm>
        </p:spPr>
        <p:txBody>
          <a:bodyPr/>
          <a:lstStyle/>
          <a:p>
            <a:pPr algn="ctr"/>
            <a:r>
              <a:rPr lang="en-US" b="1" i="1" dirty="0">
                <a:solidFill>
                  <a:srgbClr val="7030A0"/>
                </a:solidFill>
                <a:highlight>
                  <a:srgbClr val="C0C0C0"/>
                </a:highlight>
              </a:rPr>
              <a:t>Measures </a:t>
            </a:r>
            <a:br>
              <a:rPr lang="en-US" b="1" i="1" dirty="0">
                <a:solidFill>
                  <a:srgbClr val="7030A0"/>
                </a:solidFill>
                <a:highlight>
                  <a:srgbClr val="C0C0C0"/>
                </a:highlight>
              </a:rPr>
            </a:br>
            <a:r>
              <a:rPr lang="en-US" b="1" i="1" dirty="0">
                <a:solidFill>
                  <a:srgbClr val="7030A0"/>
                </a:solidFill>
                <a:highlight>
                  <a:srgbClr val="C0C0C0"/>
                </a:highlight>
              </a:rPr>
              <a:t>&amp; </a:t>
            </a:r>
            <a:br>
              <a:rPr lang="en-US" b="1" i="1" dirty="0">
                <a:solidFill>
                  <a:srgbClr val="7030A0"/>
                </a:solidFill>
                <a:highlight>
                  <a:srgbClr val="C0C0C0"/>
                </a:highlight>
              </a:rPr>
            </a:br>
            <a:r>
              <a:rPr lang="en-US" b="1" i="1" dirty="0">
                <a:solidFill>
                  <a:srgbClr val="7030A0"/>
                </a:solidFill>
                <a:highlight>
                  <a:srgbClr val="C0C0C0"/>
                </a:highlight>
              </a:rPr>
              <a:t>Slicers</a:t>
            </a:r>
            <a:endParaRPr lang="en-IN" b="1" i="1" dirty="0">
              <a:solidFill>
                <a:srgbClr val="7030A0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15764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2F91FB-D759-96A8-3207-F1DF1D35B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31" y="499697"/>
            <a:ext cx="5277587" cy="5229955"/>
          </a:xfrm>
          <a:prstGeom prst="rect">
            <a:avLst/>
          </a:prstGeom>
        </p:spPr>
      </p:pic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FE6B7958-53B7-C0AE-A227-8B42733E413A}"/>
              </a:ext>
            </a:extLst>
          </p:cNvPr>
          <p:cNvSpPr/>
          <p:nvPr/>
        </p:nvSpPr>
        <p:spPr>
          <a:xfrm>
            <a:off x="6223254" y="1704592"/>
            <a:ext cx="4838700" cy="2977135"/>
          </a:xfrm>
          <a:prstGeom prst="flowChartAlternateProcess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i="1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✔ 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Moderate traffic density has the highest number of observations.</a:t>
            </a: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IN" b="1" i="1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✔</a:t>
            </a:r>
            <a:r>
              <a:rPr lang="en-IN" i="1" dirty="0">
                <a:latin typeface="Bahnschrift SemiBold" panose="020B0502040204020203" pitchFamily="34" charset="0"/>
              </a:rPr>
              <a:t> 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Very High traffic density occurs least frequently. </a:t>
            </a:r>
          </a:p>
          <a:p>
            <a:endParaRPr lang="en-IN" b="1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b="1" i="1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✔</a:t>
            </a:r>
            <a:r>
              <a:rPr lang="en-IN" i="1" dirty="0">
                <a:latin typeface="Bahnschrift SemiBold" panose="020B0502040204020203" pitchFamily="34" charset="0"/>
              </a:rPr>
              <a:t> 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Most traffic conditions fall within the Moderate to High range, indicating regular congestion on the roadway.</a:t>
            </a:r>
          </a:p>
        </p:txBody>
      </p:sp>
    </p:spTree>
    <p:extLst>
      <p:ext uri="{BB962C8B-B14F-4D97-AF65-F5344CB8AC3E}">
        <p14:creationId xmlns:p14="http://schemas.microsoft.com/office/powerpoint/2010/main" val="1583258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62755C-78A0-CA2D-5162-64AA78B75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59" y="380594"/>
            <a:ext cx="6096491" cy="5811061"/>
          </a:xfrm>
          <a:prstGeom prst="rect">
            <a:avLst/>
          </a:prstGeom>
        </p:spPr>
      </p:pic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BD8D18EF-2293-DA78-64AD-FDB029CD9DF1}"/>
              </a:ext>
            </a:extLst>
          </p:cNvPr>
          <p:cNvSpPr/>
          <p:nvPr/>
        </p:nvSpPr>
        <p:spPr>
          <a:xfrm>
            <a:off x="6506718" y="1911096"/>
            <a:ext cx="5115306" cy="3390899"/>
          </a:xfrm>
          <a:prstGeom prst="flowChartAlternateProcess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Clouds represent the largest weather category, accounting for approximately 31% of observations. 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Clear weather is the second most common condition. 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Extreme weather events such as thunderstorms, fog, and squalls occur infrequently.</a:t>
            </a:r>
          </a:p>
        </p:txBody>
      </p:sp>
    </p:spTree>
    <p:extLst>
      <p:ext uri="{BB962C8B-B14F-4D97-AF65-F5344CB8AC3E}">
        <p14:creationId xmlns:p14="http://schemas.microsoft.com/office/powerpoint/2010/main" val="1389120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22D5D5-B71A-85E5-448C-B0AD70F62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55" y="571188"/>
            <a:ext cx="5713671" cy="5220012"/>
          </a:xfrm>
          <a:prstGeom prst="rect">
            <a:avLst/>
          </a:prstGeom>
        </p:spPr>
      </p:pic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10AD4EBC-0CDA-F24F-667C-DEDCC1547BD9}"/>
              </a:ext>
            </a:extLst>
          </p:cNvPr>
          <p:cNvSpPr/>
          <p:nvPr/>
        </p:nvSpPr>
        <p:spPr>
          <a:xfrm>
            <a:off x="6305550" y="1865376"/>
            <a:ext cx="5115306" cy="3390899"/>
          </a:xfrm>
          <a:prstGeom prst="flowChartAlternateProcess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Higher traffic density categories generally experience slightly higher average temperatures.</a:t>
            </a: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Temperature differences across traffic density levels are relatively small.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Temperature alone does not appear to be a major driver of traffic congestion. </a:t>
            </a:r>
          </a:p>
          <a:p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82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8E4B39-6337-18C4-9712-E0F7209B3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73" y="770711"/>
            <a:ext cx="5362078" cy="5316577"/>
          </a:xfrm>
          <a:prstGeom prst="rect">
            <a:avLst/>
          </a:prstGeom>
        </p:spPr>
      </p:pic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3D5A5A35-AD3E-2A24-B649-9CB53B3FFFF6}"/>
              </a:ext>
            </a:extLst>
          </p:cNvPr>
          <p:cNvSpPr/>
          <p:nvPr/>
        </p:nvSpPr>
        <p:spPr>
          <a:xfrm>
            <a:off x="6305550" y="1865376"/>
            <a:ext cx="5115306" cy="3390899"/>
          </a:xfrm>
          <a:prstGeom prst="flowChartAlternateProcess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Noticeable snowfall is observed mainly during High and Very Low traffic density categories. 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Snowfall levels remain very low overall. 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 Snow has a limited impact on overall traffic patterns due to its low occurrence.</a:t>
            </a:r>
          </a:p>
        </p:txBody>
      </p:sp>
    </p:spTree>
    <p:extLst>
      <p:ext uri="{BB962C8B-B14F-4D97-AF65-F5344CB8AC3E}">
        <p14:creationId xmlns:p14="http://schemas.microsoft.com/office/powerpoint/2010/main" val="3851397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5DCE22-E257-0638-5A1C-15C5E78F8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18" y="609230"/>
            <a:ext cx="6192114" cy="5296639"/>
          </a:xfrm>
          <a:prstGeom prst="rect">
            <a:avLst/>
          </a:prstGeom>
        </p:spPr>
      </p:pic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05352109-09CB-070D-954E-18AF65AAA7D3}"/>
              </a:ext>
            </a:extLst>
          </p:cNvPr>
          <p:cNvSpPr/>
          <p:nvPr/>
        </p:nvSpPr>
        <p:spPr>
          <a:xfrm>
            <a:off x="6698742" y="1733550"/>
            <a:ext cx="5115306" cy="3390899"/>
          </a:xfrm>
          <a:prstGeom prst="flowChartAlternateProcess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High traffic density shows the highest average rainfall level. 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Rainfall decreases significantly across the remaining traffic density categories. 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Rainy conditions may contribute to slower traffic movement and increased congestion.</a:t>
            </a:r>
          </a:p>
        </p:txBody>
      </p:sp>
    </p:spTree>
    <p:extLst>
      <p:ext uri="{BB962C8B-B14F-4D97-AF65-F5344CB8AC3E}">
        <p14:creationId xmlns:p14="http://schemas.microsoft.com/office/powerpoint/2010/main" val="1844127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722EF6-71BD-4FB3-06D2-79A214423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49" y="449760"/>
            <a:ext cx="6382216" cy="5611008"/>
          </a:xfrm>
          <a:prstGeom prst="rect">
            <a:avLst/>
          </a:prstGeom>
        </p:spPr>
      </p:pic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C7240DFF-6384-6D64-C0EF-CCEFE4E2B01D}"/>
              </a:ext>
            </a:extLst>
          </p:cNvPr>
          <p:cNvSpPr/>
          <p:nvPr/>
        </p:nvSpPr>
        <p:spPr>
          <a:xfrm>
            <a:off x="6842463" y="1691640"/>
            <a:ext cx="5115306" cy="3849624"/>
          </a:xfrm>
          <a:prstGeom prst="flowChartAlternateProcess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Traffic is usually higher on normal days than on holidays.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New Year's Day has the highest traffic among all holidays because more people travel and celebrate.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Most holidays have less traffic than regular days because fewer people go to work or commute.</a:t>
            </a:r>
          </a:p>
        </p:txBody>
      </p:sp>
    </p:spTree>
    <p:extLst>
      <p:ext uri="{BB962C8B-B14F-4D97-AF65-F5344CB8AC3E}">
        <p14:creationId xmlns:p14="http://schemas.microsoft.com/office/powerpoint/2010/main" val="1254032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B175EF-BAD3-4917-76FF-EDFA40C3C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15" y="461583"/>
            <a:ext cx="6263770" cy="5439534"/>
          </a:xfrm>
          <a:prstGeom prst="rect">
            <a:avLst/>
          </a:prstGeom>
        </p:spPr>
      </p:pic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FD082427-2C1C-54B8-CC13-57CF39A4CF41}"/>
              </a:ext>
            </a:extLst>
          </p:cNvPr>
          <p:cNvSpPr/>
          <p:nvPr/>
        </p:nvSpPr>
        <p:spPr>
          <a:xfrm>
            <a:off x="6662166" y="1865376"/>
            <a:ext cx="5115306" cy="3390899"/>
          </a:xfrm>
          <a:prstGeom prst="flowChartAlternateProcess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Traffic volume is highest during Cloudy, Haze, and Rainy conditions. 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Squall conditions record the lowest average traffic volume. 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Traffic demand remains relatively high across most weather conditions.</a:t>
            </a:r>
          </a:p>
        </p:txBody>
      </p:sp>
    </p:spTree>
    <p:extLst>
      <p:ext uri="{BB962C8B-B14F-4D97-AF65-F5344CB8AC3E}">
        <p14:creationId xmlns:p14="http://schemas.microsoft.com/office/powerpoint/2010/main" val="2005982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7BD545-1AF3-15F7-B22A-418188278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4" y="785475"/>
            <a:ext cx="6102098" cy="4829849"/>
          </a:xfrm>
          <a:prstGeom prst="rect">
            <a:avLst/>
          </a:prstGeom>
        </p:spPr>
      </p:pic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D7B702D3-D296-4D2D-12E1-984BCE2B882F}"/>
              </a:ext>
            </a:extLst>
          </p:cNvPr>
          <p:cNvSpPr/>
          <p:nvPr/>
        </p:nvSpPr>
        <p:spPr>
          <a:xfrm>
            <a:off x="6680454" y="1733550"/>
            <a:ext cx="5115306" cy="3390899"/>
          </a:xfrm>
          <a:prstGeom prst="flowChartAlternateProcess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Traffic volume remains relatively stable across the years. 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A peak in average traffic volume is observed around 2017. 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✔ No significant long-term decline in traffic demand is evident.</a:t>
            </a:r>
          </a:p>
        </p:txBody>
      </p:sp>
    </p:spTree>
    <p:extLst>
      <p:ext uri="{BB962C8B-B14F-4D97-AF65-F5344CB8AC3E}">
        <p14:creationId xmlns:p14="http://schemas.microsoft.com/office/powerpoint/2010/main" val="2752964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324C-0083-C5B3-83FF-C1EC5AA9C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705" y="1648677"/>
            <a:ext cx="9404723" cy="1400530"/>
          </a:xfrm>
        </p:spPr>
        <p:txBody>
          <a:bodyPr/>
          <a:lstStyle/>
          <a:p>
            <a:r>
              <a:rPr lang="en-US" sz="7200" b="1" i="1" dirty="0"/>
              <a:t>Recommendations</a:t>
            </a:r>
            <a:endParaRPr lang="en-IN" sz="7200" b="1" i="1" dirty="0"/>
          </a:p>
        </p:txBody>
      </p:sp>
      <p:pic>
        <p:nvPicPr>
          <p:cNvPr id="4" name="Picture 3" descr="Part II: Referrals or Recommendations - What's the Difference?">
            <a:extLst>
              <a:ext uri="{FF2B5EF4-FFF2-40B4-BE49-F238E27FC236}">
                <a16:creationId xmlns:a16="http://schemas.microsoft.com/office/drawing/2014/main" id="{D6579660-2022-7854-65AC-59538FDD9C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30"/>
          <a:stretch>
            <a:fillRect/>
          </a:stretch>
        </p:blipFill>
        <p:spPr>
          <a:xfrm>
            <a:off x="4122801" y="3325432"/>
            <a:ext cx="3333750" cy="26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2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C90-6346-DCFF-CF11-3F9C566A4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878633" cy="1400530"/>
          </a:xfrm>
        </p:spPr>
        <p:txBody>
          <a:bodyPr/>
          <a:lstStyle/>
          <a:p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✔ </a:t>
            </a:r>
            <a:r>
              <a:rPr lang="en-IN" sz="3600" b="1" i="1" dirty="0"/>
              <a:t>Use weather forecasts to prepare for heavy traffic during rainy periods</a:t>
            </a:r>
            <a:endParaRPr lang="en-IN" b="1" i="1" dirty="0"/>
          </a:p>
        </p:txBody>
      </p:sp>
      <p:pic>
        <p:nvPicPr>
          <p:cNvPr id="4" name="Picture 3" descr="Weather Forecast Dashboard by Asiq M. for Netro Systems on Dribbble">
            <a:extLst>
              <a:ext uri="{FF2B5EF4-FFF2-40B4-BE49-F238E27FC236}">
                <a16:creationId xmlns:a16="http://schemas.microsoft.com/office/drawing/2014/main" id="{46141CCD-4180-F9DA-D65E-FB633DA2C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55" t="11502" r="9263" b="10396"/>
          <a:stretch>
            <a:fillRect/>
          </a:stretch>
        </p:blipFill>
        <p:spPr>
          <a:xfrm>
            <a:off x="850392" y="2045296"/>
            <a:ext cx="5623560" cy="4027843"/>
          </a:xfrm>
          <a:prstGeom prst="rect">
            <a:avLst/>
          </a:prstGeom>
        </p:spPr>
      </p:pic>
      <p:pic>
        <p:nvPicPr>
          <p:cNvPr id="5" name="Picture 4" descr="Alerta meteorológico - ícones de clima grátis">
            <a:extLst>
              <a:ext uri="{FF2B5EF4-FFF2-40B4-BE49-F238E27FC236}">
                <a16:creationId xmlns:a16="http://schemas.microsoft.com/office/drawing/2014/main" id="{B80CD9AA-A643-F7E0-62D0-8C9A521F8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468" y="2480353"/>
            <a:ext cx="2928366" cy="29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8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BFC3-42B7-F690-2CCE-23345CF52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018" y="352134"/>
            <a:ext cx="9768905" cy="1400530"/>
          </a:xfrm>
        </p:spPr>
        <p:txBody>
          <a:bodyPr/>
          <a:lstStyle/>
          <a:p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✔ </a:t>
            </a:r>
            <a:r>
              <a:rPr lang="en-IN" sz="3600" b="1" i="1" dirty="0"/>
              <a:t>Focus traffic management efforts during Moderate and High traffic periods</a:t>
            </a:r>
            <a:endParaRPr lang="en-IN" dirty="0"/>
          </a:p>
        </p:txBody>
      </p:sp>
      <p:pic>
        <p:nvPicPr>
          <p:cNvPr id="4" name="Content Placeholder 3" descr="Smart Traffic Management Systems: Guide for Cities">
            <a:extLst>
              <a:ext uri="{FF2B5EF4-FFF2-40B4-BE49-F238E27FC236}">
                <a16:creationId xmlns:a16="http://schemas.microsoft.com/office/drawing/2014/main" id="{4C949837-0C0F-E1AA-3C67-669B20BE3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1650" y="2080070"/>
            <a:ext cx="6293643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36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4456-1DBF-8B68-FB6D-8436B6C4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✔ </a:t>
            </a:r>
            <a:r>
              <a:rPr lang="en-IN" sz="3600" b="1" i="1" dirty="0"/>
              <a:t>Optimize traffic signals during peak traffic hours</a:t>
            </a:r>
          </a:p>
        </p:txBody>
      </p:sp>
      <p:pic>
        <p:nvPicPr>
          <p:cNvPr id="4" name="Content Placeholder 3" descr="The Future of Smart Traffic Systems: AI in Smart Traffic Systems">
            <a:extLst>
              <a:ext uri="{FF2B5EF4-FFF2-40B4-BE49-F238E27FC236}">
                <a16:creationId xmlns:a16="http://schemas.microsoft.com/office/drawing/2014/main" id="{1EAF6612-EFF0-BEFC-0A06-B58246D43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4463" y="2043113"/>
            <a:ext cx="559434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62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68CF5-5C7C-0BA6-A6B4-59BEBA6F3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✔ </a:t>
            </a:r>
            <a:r>
              <a:rPr lang="en-IN" sz="3600" b="1" i="1" dirty="0"/>
              <a:t>Provide alternate routes to reduce traffic delays</a:t>
            </a:r>
          </a:p>
        </p:txBody>
      </p:sp>
      <p:pic>
        <p:nvPicPr>
          <p:cNvPr id="4" name="Content Placeholder 3" descr="How to Plan Safe Driving Routes During Regional Conflict - ArabWheels">
            <a:extLst>
              <a:ext uri="{FF2B5EF4-FFF2-40B4-BE49-F238E27FC236}">
                <a16:creationId xmlns:a16="http://schemas.microsoft.com/office/drawing/2014/main" id="{A23FBFDF-7360-9B03-B573-E25EAB9F0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0066" y="2052638"/>
            <a:ext cx="6293643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27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FBD-4D05-4E60-22D6-8795ACCD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✔</a:t>
            </a:r>
            <a:r>
              <a:rPr lang="en-IN" dirty="0"/>
              <a:t> </a:t>
            </a:r>
            <a:r>
              <a:rPr lang="en-IN" sz="3600" b="1" i="1" dirty="0"/>
              <a:t>Monitor weather-related traffic disruptions proactively</a:t>
            </a:r>
          </a:p>
        </p:txBody>
      </p:sp>
      <p:pic>
        <p:nvPicPr>
          <p:cNvPr id="4" name="Content Placeholder 3" descr="Transportation Management Center - Intelligent Transportation Society of Georgia">
            <a:extLst>
              <a:ext uri="{FF2B5EF4-FFF2-40B4-BE49-F238E27FC236}">
                <a16:creationId xmlns:a16="http://schemas.microsoft.com/office/drawing/2014/main" id="{21AD087B-36D0-4498-6D54-742E702D7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353" y="2052638"/>
            <a:ext cx="7453070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05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201</TotalTime>
  <Words>631</Words>
  <Application>Microsoft Office PowerPoint</Application>
  <PresentationFormat>Widescreen</PresentationFormat>
  <Paragraphs>145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Aharoni</vt:lpstr>
      <vt:lpstr>Aptos</vt:lpstr>
      <vt:lpstr>Arial</vt:lpstr>
      <vt:lpstr>Bahnschrift SemiBold</vt:lpstr>
      <vt:lpstr>Century Gothic</vt:lpstr>
      <vt:lpstr>Wingdings 3</vt:lpstr>
      <vt:lpstr>Ion</vt:lpstr>
      <vt:lpstr>US Minneapolis Metro Traffic Pattern Analysis</vt:lpstr>
      <vt:lpstr>Project Overview</vt:lpstr>
      <vt:lpstr>PowerPoint Presentation</vt:lpstr>
      <vt:lpstr>Tools &amp; Technologies Used</vt:lpstr>
      <vt:lpstr>Data Preprocessing</vt:lpstr>
      <vt:lpstr>PowerPoint Presentation</vt:lpstr>
      <vt:lpstr>Feature Engineering</vt:lpstr>
      <vt:lpstr>Exploratory Data Analysis</vt:lpstr>
      <vt:lpstr>Measures  &amp;  Slicers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</vt:lpstr>
      <vt:lpstr>✔ Use weather forecasts to prepare for heavy traffic during rainy periods</vt:lpstr>
      <vt:lpstr>✔ Focus traffic management efforts during Moderate and High traffic periods</vt:lpstr>
      <vt:lpstr>✔ Optimize traffic signals during peak traffic hours</vt:lpstr>
      <vt:lpstr>✔ Provide alternate routes to reduce traffic delays</vt:lpstr>
      <vt:lpstr>✔ Monitor weather-related traffic disruptions proactively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Madhan Raj T</dc:creator>
  <cp:lastModifiedBy>Madhan Raj T</cp:lastModifiedBy>
  <cp:revision>1</cp:revision>
  <dcterms:created xsi:type="dcterms:W3CDTF">2026-06-20T02:35:15Z</dcterms:created>
  <dcterms:modified xsi:type="dcterms:W3CDTF">2026-06-20T05:57:08Z</dcterms:modified>
</cp:coreProperties>
</file>